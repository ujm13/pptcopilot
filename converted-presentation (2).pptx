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7829"/>
  <p:notesSz cx="6857829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4529" y="2565336"/>
            <a:ext cx="8437528" cy="1153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DF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J.P. Morgan ASK David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2419290" y="3797205"/>
            <a:ext cx="2709133" cy="664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A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 Graph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162421" y="3771806"/>
            <a:ext cx="4251960" cy="591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1A88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驅動的金融效率革命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65696" y="1060423"/>
            <a:ext cx="3280331" cy="438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6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什麼是 ASKDavid？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6140296" y="1428714"/>
            <a:ext cx="2546698" cy="36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717D8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定義、命名與核心特點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165696" y="1962101"/>
            <a:ext cx="2508885" cy="430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2E8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解決了什麼痛點？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140296" y="2324042"/>
            <a:ext cx="2432685" cy="357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F7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傳統金融研究的結構性瓶頸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172046" y="2851079"/>
            <a:ext cx="1965960" cy="445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BE0E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實戰應用場景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140296" y="3219370"/>
            <a:ext cx="1674406" cy="357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47F9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三大核心落地领域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159346" y="3746406"/>
            <a:ext cx="4328160" cy="438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DFE4E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技術解密：架構與運作</a:t>
            </a:r>
            <a:endParaRPr lang="en-US" sz="3300" dirty="0"/>
          </a:p>
        </p:txBody>
      </p:sp>
      <p:sp>
        <p:nvSpPr>
          <p:cNvPr id="10" name="Text 7"/>
          <p:cNvSpPr/>
          <p:nvPr/>
        </p:nvSpPr>
        <p:spPr>
          <a:xfrm>
            <a:off x="806430" y="3765456"/>
            <a:ext cx="2473902" cy="81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9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6140296" y="4114697"/>
            <a:ext cx="2730434" cy="37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70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 Graph與 Sub-Agent 協作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159346" y="4641734"/>
            <a:ext cx="2797743" cy="423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5EBE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發展史與演進路線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114897" y="5003675"/>
            <a:ext cx="1610149" cy="36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7683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2023-2026時間軸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159346" y="5537062"/>
            <a:ext cx="2759644" cy="423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BE0E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市場產品概念對比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121247" y="5892653"/>
            <a:ext cx="1661160" cy="36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4809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多代理人矩陣分析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9625" y="622284"/>
            <a:ext cx="4055012" cy="49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2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什麼是 ASKDavid？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984225" y="1117572"/>
            <a:ext cx="10334126" cy="408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7B879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專為華爾街頂尖金融環境打造的企業級 AI 代理人(Domain-Spec ific QAAgent)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9702557" y="3054274"/>
            <a:ext cx="1565130" cy="277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Decision-making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263" y="3155871"/>
            <a:ext cx="1226059" cy="22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530312" y="3168571"/>
            <a:ext cx="537852" cy="211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937302" y="3155871"/>
            <a:ext cx="824438" cy="277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473363" y="3155871"/>
            <a:ext cx="933354" cy="277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039099" y="3289218"/>
            <a:ext cx="1069782" cy="22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019849" y="3352716"/>
            <a:ext cx="696494" cy="343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E5E5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(洞察)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466813" y="3403515"/>
            <a:ext cx="670547" cy="28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B5B5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（數據)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676558" y="3403515"/>
            <a:ext cx="696494" cy="28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555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(分析)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759306" y="3409865"/>
            <a:ext cx="899662" cy="277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D5D5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(視覺化)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816855" y="3511462"/>
            <a:ext cx="1749837" cy="28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3535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（决策支援助手)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36622" y="4419490"/>
            <a:ext cx="2530294" cy="401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2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高度資安(High Security)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610185" y="4419490"/>
            <a:ext cx="3178119" cy="401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D2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金融專業度(Domain Expertise)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111222" y="5041774"/>
            <a:ext cx="4241290" cy="379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9A2A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運行於受保護的私有雲企業內網。嚴格控管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584785" y="5048124"/>
            <a:ext cx="4241289" cy="36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EA7B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經深度微調與合規校準。精準理解金融術語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584785" y="5359266"/>
            <a:ext cx="4107658" cy="37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AA3A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與邏輯，大幅降低 AI 幻覺，提供專家級可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1111222" y="5365616"/>
            <a:ext cx="4241289" cy="36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DA6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資料權限，確保百億美元資產機密與客戶敏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1111222" y="5683108"/>
            <a:ext cx="1584578" cy="37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CA6B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感資料零外洩。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11201120" y="6616535"/>
            <a:ext cx="984904" cy="24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8A3B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Notebook LM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2324" y="590535"/>
            <a:ext cx="4941379" cy="503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FF5F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Ask David解決了什麼痛點？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009625" y="1085823"/>
            <a:ext cx="3530821" cy="401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7E8A9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傳統知識工作的三大結構性瓶頸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572086" y="2019250"/>
            <a:ext cx="3965205" cy="292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352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高度依赖人工，難以规模化(Manual Botleneck)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521287" y="2431989"/>
            <a:ext cx="4339397" cy="357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9A0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投資團隊需手動翻閱拼湊資訊並撰寫報告。耗時費力，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27637" y="2679633"/>
            <a:ext cx="2749294" cy="36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69EA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人力成為業務擴張的最大天花板。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68371" y="4609985"/>
            <a:ext cx="1565761" cy="292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D342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碎片化的海量资料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626159" y="4851279"/>
            <a:ext cx="1749551" cy="292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72F2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缺乏第一線即時支援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68371" y="4876678"/>
            <a:ext cx="1705329" cy="26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73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(Fragmented Data)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632509" y="5111622"/>
            <a:ext cx="2435715" cy="270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7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(Lackof Frontline Supporrt)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60423" y="5194170"/>
            <a:ext cx="2396844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9A2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數十年歷史資料散落於 Excel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66773" y="5441814"/>
            <a:ext cx="2276717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BA2A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PDF、內部系統與會議錄音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530912" y="5441814"/>
            <a:ext cx="3517390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BA3A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理專面對客戶突發提問，需等待後勤研究員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638859" y="5683108"/>
            <a:ext cx="3632118" cy="357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59EA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「真人 David」回覆。錯失秒級即答的黃金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66773" y="5689458"/>
            <a:ext cx="2571558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79F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中。跨系統檢索猶如大海撈針，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60423" y="5937102"/>
            <a:ext cx="1327403" cy="357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49CA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無法整合關聯。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063960" y="6578436"/>
            <a:ext cx="1127735" cy="279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9B5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Notebook LM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22105" y="558786"/>
            <a:ext cx="6547485" cy="430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F1F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當數十億美元的決策，撞上人工資料檢索的瓶頸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914377" y="1612860"/>
            <a:ext cx="1340357" cy="32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FE8E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現狀的混亂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143571" y="1606510"/>
            <a:ext cx="1099089" cy="387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E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線的痛黑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787980" y="2774881"/>
            <a:ext cx="1356360" cy="26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AC4C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這檔基金為何終止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267093" y="5505312"/>
            <a:ext cx="3029234" cy="335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B445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我們需要的不是取代分析師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4298843" y="5905352"/>
            <a:ext cx="2962559" cy="335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149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而是讓專家免於資料泥沼。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1057610" y="6584785"/>
            <a:ext cx="1134085" cy="273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9B4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Noe book LM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34" y="539737"/>
            <a:ext cx="8822623" cy="584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7F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端到端工作流：當客戶問「這檔基金為何終止？」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305192" y="1898603"/>
            <a:ext cx="2028597" cy="36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6B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QAFlow(通用答)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692333" y="3143171"/>
            <a:ext cx="828525" cy="211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0D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68331" y="3352716"/>
            <a:ext cx="968882" cy="248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F747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使用者提問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838379" y="3390815"/>
            <a:ext cx="553277" cy="182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2D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350241" y="3416215"/>
            <a:ext cx="1289494" cy="182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AD0A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產出包含績效問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679633" y="3632109"/>
            <a:ext cx="1124426" cy="19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7CBA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（意圖識別）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350241" y="3663858"/>
            <a:ext cx="1299019" cy="182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CDAB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問題與終止原因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534387" y="3905152"/>
            <a:ext cx="899160" cy="189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CCFAC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的初步解答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76878" y="4076598"/>
            <a:ext cx="730493" cy="204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5CDD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指派 DoC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394690" y="4152796"/>
            <a:ext cx="1283017" cy="189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CFAE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（附带参考連结）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27517" y="4260743"/>
            <a:ext cx="562599" cy="10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vis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953076" y="4336942"/>
            <a:ext cx="740395" cy="17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6C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813180" y="4419490"/>
            <a:ext cx="1381729" cy="146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4CBD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提取基金资訊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661183" y="4444889"/>
            <a:ext cx="775372" cy="25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67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 DB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991175" y="4590935"/>
            <a:ext cx="584835" cy="19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7C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946326" y="4597285"/>
            <a:ext cx="1428839" cy="343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8D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Fund Flow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692933" y="4622684"/>
            <a:ext cx="746760" cy="299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0737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歷史文件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162221" y="4832229"/>
            <a:ext cx="1457927" cy="36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1918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(特定基金)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1083009" y="6610185"/>
            <a:ext cx="1108686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B7C0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Notebook LM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4185" y="527037"/>
            <a:ext cx="3433215" cy="445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4EBF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Ask David的實戰應用場景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52436" y="1009625"/>
            <a:ext cx="6108665" cy="430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95A2B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從「單純問答」進化為跨部門的「業務核心中樞」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5176" y="2997125"/>
            <a:ext cx="2132838" cy="32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8383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01|私人銀行與投資研究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965576" y="2997125"/>
            <a:ext cx="2391354" cy="343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02法遵與日常營運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54834" y="2997125"/>
            <a:ext cx="2435803" cy="350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9393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03 IT軟體工程開發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52476" y="3670208"/>
            <a:ext cx="2613660" cy="277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3535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秒級報告摘要：瞬間提取數十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705232" y="3670208"/>
            <a:ext cx="2613660" cy="277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6565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反洗錢與詐欺檢測：自動篩選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438939" y="3670208"/>
            <a:ext cx="2613660" cy="277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C5C5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程式碼現代化：協助將舊版系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58826" y="3955951"/>
            <a:ext cx="1985010" cy="277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5656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年非結構化歷史績效。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438939" y="3955951"/>
            <a:ext cx="1794510" cy="277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868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統遷移至現代框架。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705232" y="3955951"/>
            <a:ext cx="2366010" cy="28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7676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異常，轉譯複雜合規條款。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724282" y="4578236"/>
            <a:ext cx="2623185" cy="277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2525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內部政策秒查：跨國差旅、勞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477038" y="4578236"/>
            <a:ext cx="2375535" cy="277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2525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自動化除錯：撰寫單測試，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90575" y="4578236"/>
            <a:ext cx="2670619" cy="292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B4B4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自然語言調用：無需 SQL，直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90575" y="4870328"/>
            <a:ext cx="2175510" cy="270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363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接提問獲取資料庫數據。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705232" y="4870328"/>
            <a:ext cx="2556510" cy="270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363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工福利等繁雜手冊一問即得。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438939" y="4870328"/>
            <a:ext cx="1794510" cy="270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363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快速揪出邏輯漏洞。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58826" y="5486263"/>
            <a:ext cx="2613660" cy="277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8585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情境化決策預演：替理專生成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698883" y="5486263"/>
            <a:ext cx="2613660" cy="277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行政效率解放：處理百萬計郵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470688" y="5486263"/>
            <a:ext cx="2640711" cy="277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內部 API 導航：於成千上萬的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4736982" y="5778356"/>
            <a:ext cx="1794510" cy="270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9696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件草擬與會議紀錄。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470688" y="5778356"/>
            <a:ext cx="2375535" cy="270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A6A6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內部系統中快速定位文件。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58826" y="5778356"/>
            <a:ext cx="2366010" cy="270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5656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專屬的客戶投資組合簡報。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1182070" y="6622884"/>
            <a:ext cx="892347" cy="23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4A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Notebook LM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77876" y="546086"/>
            <a:ext cx="7460620" cy="598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F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技術解密：Lang Graph與 Sub-Agent 架構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965176" y="1085823"/>
            <a:ext cx="5023485" cy="416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5839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從「單一腦」升級為「具備自我反思的專業團隊」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277914" y="2057349"/>
            <a:ext cx="3635868" cy="379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E9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主管代理人(Supervisor Orchestrator)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616335" y="2374841"/>
            <a:ext cx="5641032" cy="36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BA5A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負責解析意圖、分派任務給子代理人，並調用短期/長期記憶。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117972" y="3041574"/>
            <a:ext cx="1768887" cy="357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5908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專業子代理人團隊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156071" y="3282868"/>
            <a:ext cx="1236938" cy="357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7D82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(Worker An)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35464" y="3651159"/>
            <a:ext cx="1886330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3B7B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結構化資料代理人：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03995" y="3695608"/>
            <a:ext cx="1556194" cy="357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C8D8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智慧工作流節點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29114" y="3873403"/>
            <a:ext cx="1687284" cy="357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213A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轉譯 SQ/AP 抓取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823004" y="3930552"/>
            <a:ext cx="2175459" cy="350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777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BHAA] FARES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34984" y="4476638"/>
            <a:ext cx="1029081" cy="37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5B9B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使用者提問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435464" y="4546486"/>
            <a:ext cx="1384553" cy="357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4AAB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非絡構化代理人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41814" y="4775081"/>
            <a:ext cx="1592788" cy="357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59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(RAG)：索 PDF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435464" y="4990975"/>
            <a:ext cx="1149667" cy="357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9839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與會議紀錄。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073923" y="5168771"/>
            <a:ext cx="2171173" cy="387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BB0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反思检查 Summarization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670608" y="5422764"/>
            <a:ext cx="2367067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7AF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(Personalize): (Re fle cti n)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435464" y="5441814"/>
            <a:ext cx="1562290" cy="357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CB1B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分析與視覺化代理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441814" y="5657709"/>
            <a:ext cx="1213485" cy="36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29AA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人：執行数学算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664258" y="5632309"/>
            <a:ext cx="1194435" cy="357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C949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依發問者身分自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067573" y="5638659"/>
            <a:ext cx="1370052" cy="357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19C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内建 LLMJudge，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657909" y="5854554"/>
            <a:ext cx="1368742" cy="357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89929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動調整深度。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9073923" y="5860903"/>
            <a:ext cx="1857565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09AA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審查不合理即打回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11260805" y="6610185"/>
            <a:ext cx="930890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4A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 LM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5439" y="450839"/>
            <a:ext cx="6029486" cy="496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F4F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Ask David發展史：評估驅動的演進路線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19090" y="1047724"/>
            <a:ext cx="8453231" cy="423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CB5B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絕非一蹴可幾，而是從實驗室走向逾20萬員工的持續迭代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749281" y="2070048"/>
            <a:ext cx="1887321" cy="39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17E8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2023|起步與測試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632109" y="2076398"/>
            <a:ext cx="1887321" cy="387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27F8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2024|試點與落地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521287" y="2076398"/>
            <a:ext cx="1887321" cy="39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5829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2025|爆發與獲獎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277118" y="2025599"/>
            <a:ext cx="1165834" cy="430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66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286743" y="2019250"/>
            <a:ext cx="1051560" cy="445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9A48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全面進化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04832" y="4578236"/>
            <a:ext cx="1859000" cy="357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39BA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建立基礎Re Act原型，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568611" y="4584585"/>
            <a:ext cx="2009530" cy="36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9A1A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引入 RAG 與多代理架構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387940" y="4584585"/>
            <a:ext cx="2095499" cy="357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198A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榮獲創新大獎；系統開放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283468" y="4584585"/>
            <a:ext cx="2022627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49D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完成第8次重大升級；進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54034" y="4863978"/>
            <a:ext cx="1908238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097A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摸索符合嚴格金融資安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676558" y="4863978"/>
            <a:ext cx="1720586" cy="37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59E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(LLMSuite)；專精於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32389" y="4863978"/>
            <a:ext cx="1772019" cy="36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39CA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給全球逾20萬員工使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213620" y="4870328"/>
            <a:ext cx="2256287" cy="357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59E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化為自動化生產線 Agentic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87380" y="5143371"/>
            <a:ext cx="1707226" cy="357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49DA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標準的Gen AI框架。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498763" y="5149721"/>
            <a:ext cx="2095499" cy="36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59DA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投資研究場景，開始服務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19690" y="5149721"/>
            <a:ext cx="2012189" cy="357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39AA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用；每週為每人省下3-6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327917" y="5143371"/>
            <a:ext cx="2080812" cy="357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59D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Work flow；深度整合神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473963" y="5429114"/>
            <a:ext cx="1682876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098A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經多樣性支援介面。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089298" y="5429114"/>
            <a:ext cx="971931" cy="36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299A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前線顧問。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057610" y="6597485"/>
            <a:ext cx="1134085" cy="260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8A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Notebook LM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5935" y="558786"/>
            <a:ext cx="6725807" cy="467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3B49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市場多代理人(Multi-Agent)產品矩陣對比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84185" y="1047724"/>
            <a:ext cx="4003832" cy="387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A2A7A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針對不同領域與意圖的頂級架構實踐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57229" y="1904952"/>
            <a:ext cx="6109338" cy="408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A9A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比較維度ASK David (J.P. Morgan) Claude Code (Anthropic)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800880" y="1924002"/>
            <a:ext cx="2407873" cy="379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9CE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Claw / Clawdbot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95328" y="2692333"/>
            <a:ext cx="899160" cy="39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8ADB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產品定位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482788" y="2705032"/>
            <a:ext cx="2423160" cy="357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4B5B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金融業企業級作業系統大腦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00560" y="2705032"/>
            <a:ext cx="2436114" cy="357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5AA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開發者的首席 CLI 程式助手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29434" y="2705032"/>
            <a:ext cx="2613660" cy="36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1A4A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高度主動性的個人開源代理人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889178" y="3517812"/>
            <a:ext cx="1661160" cy="36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4B5B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高資安私有雲內網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498963" y="3651159"/>
            <a:ext cx="2448694" cy="36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3A7A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終端機(Terminal/本機環境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553236" y="3651159"/>
            <a:ext cx="2723718" cy="37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1A6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通訊軟體(Telegram)/桌面0 OS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95328" y="3644809"/>
            <a:ext cx="899160" cy="387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0A5A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操作環境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990775" y="3803555"/>
            <a:ext cx="1410831" cy="36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B7B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(Private Cloud)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886303" y="4470288"/>
            <a:ext cx="1870576" cy="37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5AAB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領頭代理人(Leader)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832629" y="4470288"/>
            <a:ext cx="2017539" cy="37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7ACB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特化行動代理(Action)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95328" y="4597285"/>
            <a:ext cx="908685" cy="387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1A7A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代理模式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749481" y="4470288"/>
            <a:ext cx="1977643" cy="379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4B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 Graph協作網路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2412940" y="4743331"/>
            <a:ext cx="2302764" cy="37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CBDB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(主管調度+專業代理人群)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530712" y="4743331"/>
            <a:ext cx="2571369" cy="36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7ABB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(啟動子代理處理百萬行代碼)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457989" y="4743331"/>
            <a:ext cx="2902740" cy="37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6A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(具備Computer Use看螢幕操作)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9251719" y="5435464"/>
            <a:ext cx="1436281" cy="37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3A8A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自主排程唤醒、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95328" y="5562461"/>
            <a:ext cx="899160" cy="387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CA0A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核心優勢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2673283" y="5441814"/>
            <a:ext cx="1985010" cy="36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9BBB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記憶治理、合規反思、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083148" y="5441814"/>
            <a:ext cx="1413510" cy="37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CA1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環境感知能力、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8934227" y="5714857"/>
            <a:ext cx="2051685" cy="36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FA3A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低成本處理跨系統雜務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3079673" y="5714857"/>
            <a:ext cx="1270635" cy="37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7B8B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角色分層輸出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006950" y="5721207"/>
            <a:ext cx="1680210" cy="36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B9FA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自動報錯循環修正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11038561" y="6578436"/>
            <a:ext cx="1153135" cy="270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9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Notebook LM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29" y="749281"/>
            <a:ext cx="7576185" cy="540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D7E1E8"/>
                </a:solidFill>
                <a:latin typeface="Noto Serif TC" pitchFamily="34" charset="0"/>
                <a:ea typeface="Noto Serif TC" pitchFamily="34" charset="-122"/>
                <a:cs typeface="Noto Serif TC" pitchFamily="34" charset="-120"/>
              </a:rPr>
              <a:t>為什麼通用大語言模型無法滿足華爾街？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7461063" y="1936702"/>
            <a:ext cx="2565886" cy="401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A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J.P. Morgan Ask David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825679" y="1943051"/>
            <a:ext cx="3109481" cy="39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99A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 LLM（如一般Chat GPT)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377" y="2660583"/>
            <a:ext cx="1425892" cy="39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3D7D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數據安全機制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825679" y="2673283"/>
            <a:ext cx="3162108" cy="37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2BBC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公有雲風險，可能用於模型訓練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635584" y="2666933"/>
            <a:ext cx="3593780" cy="379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A6AEB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企業內網完全隔離，確保機密不外洩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20727" y="3384465"/>
            <a:ext cx="1219581" cy="39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ED4D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領域專業性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2812980" y="3390815"/>
            <a:ext cx="2946272" cy="387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1B9C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依賴廣泛知識，極易產生幻覺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622884" y="3390815"/>
            <a:ext cx="4438075" cy="379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A6AEB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整合內部法規與歷史數據，高準確度合規輸出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597485" y="4114697"/>
            <a:ext cx="3593780" cy="379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AAB1B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依職位動態調整存取範圍與回答深度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914377" y="4101997"/>
            <a:ext cx="994219" cy="416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0D4D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權限控制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2812980" y="4114697"/>
            <a:ext cx="1651253" cy="39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6BDC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無差別資訊存取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20727" y="4825879"/>
            <a:ext cx="1003744" cy="416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0D6D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系統架構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2812980" y="4844929"/>
            <a:ext cx="2514599" cy="379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5BDC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單一大模型處理所有任務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584785" y="4844929"/>
            <a:ext cx="4729207" cy="401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ACB5B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專精分工的多代理人協作(Multi-Agent System)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2564476" y="6032349"/>
            <a:ext cx="7062743" cy="401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353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企業級 AI 必須兼具「領域深度」與「企業級防護」</a:t>
            </a:r>
            <a:endParaRPr lang="en-US" sz="2500" dirty="0"/>
          </a:p>
        </p:txBody>
      </p:sp>
      <p:sp>
        <p:nvSpPr>
          <p:cNvPr id="19" name="Text 16"/>
          <p:cNvSpPr/>
          <p:nvPr/>
        </p:nvSpPr>
        <p:spPr>
          <a:xfrm>
            <a:off x="11023142" y="6603835"/>
            <a:ext cx="1168553" cy="25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CBA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Notebook LM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2026-05-12T17:31:20Z</dcterms:created>
  <dcterms:modified xsi:type="dcterms:W3CDTF">2026-05-12T17:31:20Z</dcterms:modified>
</cp:coreProperties>
</file>